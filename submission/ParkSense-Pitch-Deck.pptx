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 Joshi" userId="ad0f0eaf-ae8e-49a7-9c9b-00968944b4a7" providerId="ADAL" clId="{710C22A4-247D-4D86-B647-E6C5C26B7FFC}"/>
    <pc:docChg chg="custSel modSld sldOrd">
      <pc:chgData name="Nihar Joshi" userId="ad0f0eaf-ae8e-49a7-9c9b-00968944b4a7" providerId="ADAL" clId="{710C22A4-247D-4D86-B647-E6C5C26B7FFC}" dt="2026-06-20T08:44:06.347" v="42" actId="313"/>
      <pc:docMkLst>
        <pc:docMk/>
      </pc:docMkLst>
      <pc:sldChg chg="modSp mod">
        <pc:chgData name="Nihar Joshi" userId="ad0f0eaf-ae8e-49a7-9c9b-00968944b4a7" providerId="ADAL" clId="{710C22A4-247D-4D86-B647-E6C5C26B7FFC}" dt="2026-06-20T08:44:06.347" v="42" actId="313"/>
        <pc:sldMkLst>
          <pc:docMk/>
          <pc:sldMk cId="0" sldId="256"/>
        </pc:sldMkLst>
        <pc:spChg chg="mod">
          <ac:chgData name="Nihar Joshi" userId="ad0f0eaf-ae8e-49a7-9c9b-00968944b4a7" providerId="ADAL" clId="{710C22A4-247D-4D86-B647-E6C5C26B7FFC}" dt="2026-06-20T08:44:06.347" v="42" actId="313"/>
          <ac:spMkLst>
            <pc:docMk/>
            <pc:sldMk cId="0" sldId="256"/>
            <ac:spMk id="7" creationId="{00000000-0000-0000-0000-000000000000}"/>
          </ac:spMkLst>
        </pc:spChg>
      </pc:sldChg>
      <pc:sldChg chg="ord">
        <pc:chgData name="Nihar Joshi" userId="ad0f0eaf-ae8e-49a7-9c9b-00968944b4a7" providerId="ADAL" clId="{710C22A4-247D-4D86-B647-E6C5C26B7FFC}" dt="2026-06-20T08:42:44.533" v="1"/>
        <pc:sldMkLst>
          <pc:docMk/>
          <pc:sldMk cId="0" sldId="257"/>
        </pc:sldMkLst>
      </pc:sldChg>
      <pc:sldChg chg="modSp mod">
        <pc:chgData name="Nihar Joshi" userId="ad0f0eaf-ae8e-49a7-9c9b-00968944b4a7" providerId="ADAL" clId="{710C22A4-247D-4D86-B647-E6C5C26B7FFC}" dt="2026-06-20T08:43:19.725" v="4" actId="20577"/>
        <pc:sldMkLst>
          <pc:docMk/>
          <pc:sldMk cId="0" sldId="266"/>
        </pc:sldMkLst>
        <pc:spChg chg="mod">
          <ac:chgData name="Nihar Joshi" userId="ad0f0eaf-ae8e-49a7-9c9b-00968944b4a7" providerId="ADAL" clId="{710C22A4-247D-4D86-B647-E6C5C26B7FFC}" dt="2026-06-20T08:43:19.725" v="4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Nihar Joshi" userId="ad0f0eaf-ae8e-49a7-9c9b-00968944b4a7" providerId="ADAL" clId="{710C22A4-247D-4D86-B647-E6C5C26B7FFC}" dt="2026-06-20T08:43:15.281" v="2" actId="6549"/>
          <ac:spMkLst>
            <pc:docMk/>
            <pc:sldMk cId="0" sldId="266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F2F4F8"/>
                </a:solidFill>
                <a:latin typeface="Segoe UI"/>
              </a:rPr>
              <a:t>ParkSense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FFC200"/>
                </a:solidFill>
                <a:latin typeface="Segoe UI"/>
              </a:rPr>
              <a:t>AI parking enforcement intelligence for Bengaluru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3794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AA6C0"/>
                </a:solidFill>
                <a:latin typeface="Segoe UI"/>
              </a:rPr>
              <a:t>From reactive patrols to data-ranked enforcement.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709160"/>
            <a:ext cx="5120640" cy="1778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892040"/>
            <a:ext cx="10972800" cy="1119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9AA6C0"/>
                </a:solidFill>
                <a:latin typeface="Segoe UI"/>
              </a:rPr>
              <a:t>Theme:  Poor visibility on parking-induced congestion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9AA6C0"/>
                </a:solidFill>
                <a:latin typeface="Segoe UI"/>
              </a:rPr>
              <a:t>Gridlock Hackathon 2.0  ·  Round 2</a:t>
            </a:r>
            <a:endParaRPr lang="en-US" sz="1400" b="0" dirty="0">
              <a:solidFill>
                <a:srgbClr val="9AA6C0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400" dirty="0">
                <a:solidFill>
                  <a:srgbClr val="9AA6C0"/>
                </a:solidFill>
                <a:latin typeface="Segoe UI"/>
              </a:rPr>
              <a:t>Participant : Nihar Joshi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endParaRPr sz="1400" b="0" dirty="0">
              <a:solidFill>
                <a:srgbClr val="9AA6C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Parking chaos is choking our roads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Cars block the road.  </a:t>
            </a:r>
            <a:r>
              <a:rPr sz="1700" b="0">
                <a:solidFill>
                  <a:srgbClr val="F2F4F8"/>
                </a:solidFill>
                <a:latin typeface="Segoe UI"/>
              </a:rPr>
              <a:t>Illegal and double parking near markets, metro stations and event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2F4F8"/>
                </a:solidFill>
                <a:latin typeface="Segoe UI"/>
              </a:rPr>
              <a:t>venues squeezes traffic into fewer lanes.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Enforcement is guesswork.  </a:t>
            </a:r>
            <a:r>
              <a:rPr sz="1700" b="0">
                <a:solidFill>
                  <a:srgbClr val="F2F4F8"/>
                </a:solidFill>
                <a:latin typeface="Segoe UI"/>
              </a:rPr>
              <a:t>Teams patrol blindly. There is no map showing which spots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2F4F8"/>
                </a:solidFill>
                <a:latin typeface="Segoe UI"/>
              </a:rPr>
              <a:t>actually hurt traffic the most.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Everything looks equally bad.  </a:t>
            </a:r>
            <a:r>
              <a:rPr sz="1700" b="0">
                <a:solidFill>
                  <a:srgbClr val="F2F4F8"/>
                </a:solidFill>
                <a:latin typeface="Segoe UI"/>
              </a:rPr>
              <a:t>Officers cannot tell which zone to fix first, so the worst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F2F4F8"/>
                </a:solidFill>
                <a:latin typeface="Segoe UI"/>
              </a:rPr>
              <a:t>jams keep coming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Not every wrong-parked car matters the same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2F4F8"/>
                </a:solidFill>
                <a:latin typeface="Segoe UI"/>
              </a:rPr>
              <a:t>A car blocking a busy main road at 6 PM is a big problem.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2F4F8"/>
                </a:solidFill>
                <a:latin typeface="Segoe UI"/>
              </a:rPr>
              <a:t>The same car on a quiet street at midnight is 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10881360" cy="137160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977639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C200"/>
                </a:solidFill>
                <a:latin typeface="Segoe UI"/>
              </a:rPr>
              <a:t>So we stopped counting cars. </a:t>
            </a:r>
            <a:r>
              <a:rPr sz="2200" b="1">
                <a:solidFill>
                  <a:srgbClr val="F2F4F8"/>
                </a:solidFill>
                <a:latin typeface="Segoe UI"/>
              </a:rPr>
              <a:t>We measure how much each spot is actually hurting traffic 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4F8"/>
                </a:solidFill>
                <a:latin typeface="Segoe UI"/>
              </a:rPr>
              <a:t>One live dashboard for the whole 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380" y="1541780"/>
            <a:ext cx="7523479" cy="5598104"/>
          </a:xfrm>
          <a:prstGeom prst="rect">
            <a:avLst/>
          </a:prstGeom>
          <a:noFill/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-ful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55727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55448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What you see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F4F8"/>
                </a:solidFill>
                <a:latin typeface="Segoe UI"/>
              </a:rPr>
              <a:t>Hotspot 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Live red / amber / green zones.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F4F8"/>
                </a:solidFill>
                <a:latin typeface="Segoe UI"/>
              </a:rPr>
              <a:t>Impact score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0–100 score per spot.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F4F8"/>
                </a:solidFill>
                <a:latin typeface="Segoe UI"/>
              </a:rPr>
              <a:t>Priority queue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Zones ranked by urgency.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F4F8"/>
                </a:solidFill>
                <a:latin typeface="Segoe UI"/>
              </a:rPr>
              <a:t>Situation report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AA6C0"/>
                </a:solidFill>
                <a:latin typeface="Segoe UI"/>
              </a:rPr>
              <a:t>Plain-English brief per zone.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The Congestion Impact Score (CIS)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AA6C0"/>
                </a:solidFill>
                <a:latin typeface="Segoe UI"/>
              </a:rPr>
              <a:t>A single 0–100 score that says how badly each spot hurts traffic. It is built from five things: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498079" cy="566928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How many cars are wrongly parked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42%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127248"/>
            <a:ext cx="7498079" cy="566928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12724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Time of day (rush hour vs night)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127248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22%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85616"/>
            <a:ext cx="7498079" cy="566928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78561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How important the road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785616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18%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43984"/>
            <a:ext cx="7498079" cy="566928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4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Risk of the jam spilling into junctions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443984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13%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02352"/>
            <a:ext cx="7498079" cy="566928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102352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History of repeat offenders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102352"/>
            <a:ext cx="11887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C200"/>
                </a:solidFill>
                <a:latin typeface="Segoe UI"/>
              </a:rPr>
              <a:t>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468880"/>
            <a:ext cx="3017520" cy="3035808"/>
          </a:xfrm>
          <a:prstGeom prst="rect">
            <a:avLst/>
          </a:prstGeom>
          <a:noFill/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32520" y="2697480"/>
            <a:ext cx="260604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C200"/>
                </a:solidFill>
                <a:latin typeface="Segoe UI"/>
              </a:rPr>
              <a:t>Why it's better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Every number is shown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the app — no black box.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sz="1400" b="0">
              <a:solidFill>
                <a:srgbClr val="F2F4F8"/>
              </a:solidFill>
              <a:latin typeface="Segoe U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Score + how easy it is to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reach the spot decides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2F4F8"/>
                </a:solidFill>
                <a:latin typeface="Segoe UI"/>
              </a:rPr>
              <a:t>Red / Amber / Green tier.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FULLY EXPLAINABLE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4F8"/>
                </a:solidFill>
                <a:latin typeface="Segoe UI"/>
              </a:rPr>
              <a:t>No black box — every score is shown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380" y="1633220"/>
            <a:ext cx="6791960" cy="5903982"/>
          </a:xfrm>
          <a:prstGeom prst="rect">
            <a:avLst/>
          </a:prstGeom>
          <a:noFill/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3-transparency-raw-pay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766560" cy="58785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201168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F2F4F8"/>
                </a:solidFill>
                <a:latin typeface="Segoe UI"/>
              </a:rPr>
              <a:t>Click </a:t>
            </a:r>
            <a:r>
              <a:rPr sz="1700" b="1">
                <a:solidFill>
                  <a:srgbClr val="FFC200"/>
                </a:solidFill>
                <a:latin typeface="Segoe UI"/>
              </a:rPr>
              <a:t>“Show raw payload”</a:t>
            </a:r>
            <a:r>
              <a:rPr sz="1700" b="0">
                <a:solidFill>
                  <a:srgbClr val="F2F4F8"/>
                </a:solidFill>
                <a:latin typeface="Segoe UI"/>
              </a:rPr>
              <a:t> and you see the full breakdown behind every score.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700" b="0">
              <a:solidFill>
                <a:srgbClr val="F2F4F8"/>
              </a:solidFill>
              <a:latin typeface="Segoe U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9AA6C0"/>
                </a:solidFill>
                <a:latin typeface="Segoe UI"/>
              </a:rPr>
              <a:t>Judges, officers and engineers can all check exactly how a number was reached.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IT REACTS TO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4F8"/>
                </a:solidFill>
                <a:latin typeface="Segoe UI"/>
              </a:rPr>
              <a:t>Busy at 6 PM, calm at midnight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380" y="1770380"/>
            <a:ext cx="5328920" cy="3174365"/>
          </a:xfrm>
          <a:prstGeom prst="rect">
            <a:avLst/>
          </a:prstGeom>
          <a:noFill/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-dashboard-peak-1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303520" cy="314896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59500" y="1770380"/>
            <a:ext cx="5328920" cy="3174365"/>
          </a:xfrm>
          <a:prstGeom prst="rect">
            <a:avLst/>
          </a:prstGeom>
          <a:noFill/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4-offpeak-green-z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83080"/>
            <a:ext cx="5303520" cy="31489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0749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5A5A"/>
                </a:solidFill>
                <a:latin typeface="Segoe UI"/>
              </a:rPr>
              <a:t>6 PM peak — </a:t>
            </a:r>
            <a:r>
              <a:rPr sz="1500" b="0">
                <a:solidFill>
                  <a:srgbClr val="F2F4F8"/>
                </a:solidFill>
                <a:latin typeface="Segoe UI"/>
              </a:rPr>
              <a:t>red zones light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50749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46D37E"/>
                </a:solidFill>
                <a:latin typeface="Segoe UI"/>
              </a:rPr>
              <a:t>Midnight — </a:t>
            </a:r>
            <a:r>
              <a:rPr sz="1500" b="0">
                <a:solidFill>
                  <a:srgbClr val="F2F4F8"/>
                </a:solidFill>
                <a:latin typeface="Segoe UI"/>
              </a:rPr>
              <a:t>most zones turn green.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6C0"/>
                </a:solidFill>
                <a:latin typeface="Segoe UI"/>
              </a:rPr>
              <a:t>Drag the time slider to any hour. The model is not “always red” — it follows real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FROM ALERT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One click closes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3429000" cy="219456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C200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4F8"/>
                </a:solidFill>
                <a:latin typeface="Segoe UI"/>
              </a:rPr>
              <a:t>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6C0"/>
                </a:solidFill>
                <a:latin typeface="Segoe UI"/>
              </a:rPr>
              <a:t>Map and queue show the worst zones right now.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194560"/>
            <a:ext cx="3429000" cy="219456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C200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4F8"/>
                </a:solidFill>
                <a:latin typeface="Segoe UI"/>
              </a:rPr>
              <a:t>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6C0"/>
                </a:solidFill>
                <a:latin typeface="Segoe UI"/>
              </a:rPr>
              <a:t>Read the plain-English situation report for that zone.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2194560"/>
            <a:ext cx="3429000" cy="219456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423160"/>
            <a:ext cx="914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C200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154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4F8"/>
                </a:solidFill>
                <a:latin typeface="Segoe UI"/>
              </a:rPr>
              <a:t>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80"/>
            <a:ext cx="29260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A6C0"/>
                </a:solidFill>
                <a:latin typeface="Segoe UI"/>
              </a:rPr>
              <a:t>One click sends a patrol and estimates commuter-minutes saved.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A6C0"/>
                </a:solidFill>
                <a:latin typeface="Segoe UI"/>
              </a:rPr>
              <a:t>Plus: export the queue to CSV for field teams, and a live feed updates the control room in real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2D8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HOW IT'S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Simple, fast,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331720" cy="868680"/>
          </a:xfrm>
          <a:prstGeom prst="rect">
            <a:avLst/>
          </a:prstGeom>
          <a:solidFill>
            <a:srgbClr val="12192E"/>
          </a:solidFill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4F8"/>
                </a:solidFill>
                <a:latin typeface="Segoe UI"/>
              </a:rPr>
              <a:t>Bengaluru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1031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C200"/>
                </a:solidFill>
                <a:latin typeface="Segoe U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03120"/>
            <a:ext cx="2331720" cy="868680"/>
          </a:xfrm>
          <a:prstGeom prst="rect">
            <a:avLst/>
          </a:prstGeom>
          <a:solidFill>
            <a:srgbClr val="12192E"/>
          </a:solidFill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21031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4F8"/>
                </a:solidFill>
                <a:latin typeface="Segoe UI"/>
              </a:rPr>
              <a:t>CIS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1031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C200"/>
                </a:solidFill>
                <a:latin typeface="Segoe U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03120"/>
            <a:ext cx="2331720" cy="868680"/>
          </a:xfrm>
          <a:prstGeom prst="rect">
            <a:avLst/>
          </a:prstGeom>
          <a:solidFill>
            <a:srgbClr val="12192E"/>
          </a:solidFill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031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4F8"/>
                </a:solidFill>
                <a:latin typeface="Segoe UI"/>
              </a:rPr>
              <a:t>API (REST + live feed)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03120"/>
            <a:ext cx="457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C200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103120"/>
            <a:ext cx="2331720" cy="868680"/>
          </a:xfrm>
          <a:prstGeom prst="rect">
            <a:avLst/>
          </a:prstGeom>
          <a:solidFill>
            <a:srgbClr val="12192E"/>
          </a:solidFill>
          <a:ln w="15240">
            <a:solidFill>
              <a:srgbClr val="2D8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2103120"/>
            <a:ext cx="23317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4F8"/>
                </a:solidFill>
                <a:latin typeface="Segoe UI"/>
              </a:rPr>
              <a:t>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1088136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Backend:  </a:t>
            </a:r>
            <a:r>
              <a:rPr sz="1700" b="0">
                <a:solidFill>
                  <a:srgbClr val="F2F4F8"/>
                </a:solidFill>
                <a:latin typeface="Segoe UI"/>
              </a:rPr>
              <a:t>Python (FastAPI) computes the score and serves a live feed over WebSockets.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Frontend:  </a:t>
            </a:r>
            <a:r>
              <a:rPr sz="1700" b="0">
                <a:solidFill>
                  <a:srgbClr val="F2F4F8"/>
                </a:solidFill>
                <a:latin typeface="Segoe UI"/>
              </a:rPr>
              <a:t>React + Vite with a Leaflet map and live heatmap.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Data:  </a:t>
            </a:r>
            <a:r>
              <a:rPr sz="1700" b="0">
                <a:solidFill>
                  <a:srgbClr val="F2F4F8"/>
                </a:solidFill>
                <a:latin typeface="Segoe UI"/>
              </a:rPr>
              <a:t>Seeded synthetic dataset modeling real Bengaluru hotspots — same result every run.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FC200"/>
                </a:solidFill>
                <a:latin typeface="Segoe UI"/>
              </a:rPr>
              <a:t>AI:  </a:t>
            </a:r>
            <a:r>
              <a:rPr sz="1700" b="0">
                <a:solidFill>
                  <a:srgbClr val="F2F4F8"/>
                </a:solidFill>
                <a:latin typeface="Segoe UI"/>
              </a:rPr>
              <a:t>Briefings come from a clear rule engine, so results are explainable and repeatable.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66928"/>
            <a:ext cx="146304" cy="384048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96112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AA6C0"/>
                </a:solidFill>
                <a:latin typeface="Segoe UI"/>
              </a:rPr>
              <a:t>IMPACT &amp;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2F4F8"/>
                </a:solidFill>
                <a:latin typeface="Segoe UI"/>
              </a:rPr>
              <a:t>Smarter enforcement, clear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212080" cy="329184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FFC200"/>
                </a:solidFill>
                <a:latin typeface="Segoe UI"/>
              </a:rPr>
              <a:t>Impact today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Fix the worst zones first.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Measure minutes saved for commuters.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Every decision is explainable.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011680"/>
            <a:ext cx="5212080" cy="3291840"/>
          </a:xfrm>
          <a:prstGeom prst="rect">
            <a:avLst/>
          </a:prstGeom>
          <a:solidFill>
            <a:srgbClr val="12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24028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D87F0"/>
                </a:solidFill>
                <a:latin typeface="Segoe UI"/>
              </a:rPr>
              <a:t>What's next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Plug in real camera / ANPR feeds.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Mobile app for field officers.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2F4F8"/>
                </a:solidFill>
                <a:latin typeface="Segoe UI"/>
              </a:rPr>
              <a:t>•  Link to live traffic-signal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ParkSense  ·  Gridlock Hackathon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AA6C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C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2F4F8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383280"/>
            <a:ext cx="10972800" cy="3004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dirty="0" err="1">
                <a:solidFill>
                  <a:srgbClr val="FFC200"/>
                </a:solidFill>
                <a:latin typeface="Segoe UI"/>
              </a:rPr>
              <a:t>ParkSense</a:t>
            </a:r>
            <a:r>
              <a:rPr sz="2000" b="0" dirty="0">
                <a:solidFill>
                  <a:srgbClr val="FFC200"/>
                </a:solidFill>
                <a:latin typeface="Segoe UI"/>
              </a:rPr>
              <a:t> </a:t>
            </a:r>
            <a:r>
              <a:rPr lang="en-US" sz="2000" b="0" dirty="0">
                <a:solidFill>
                  <a:srgbClr val="FFC200"/>
                </a:solidFill>
                <a:latin typeface="Segoe UI"/>
              </a:rPr>
              <a:t>-</a:t>
            </a:r>
            <a:r>
              <a:rPr sz="2000" b="0" dirty="0">
                <a:solidFill>
                  <a:srgbClr val="FFC200"/>
                </a:solidFill>
                <a:latin typeface="Segoe UI"/>
              </a:rPr>
              <a:t> turning parking data into targeted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72800" cy="2253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dirty="0">
                <a:solidFill>
                  <a:srgbClr val="9AA6C0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673</Words>
  <Application>Microsoft Office PowerPoint</Application>
  <PresentationFormat>Widescreen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Nihar Joshi</cp:lastModifiedBy>
  <cp:revision>1</cp:revision>
  <dcterms:created xsi:type="dcterms:W3CDTF">2013-01-27T09:14:16Z</dcterms:created>
  <dcterms:modified xsi:type="dcterms:W3CDTF">2026-06-20T08:44:09Z</dcterms:modified>
  <cp:category/>
</cp:coreProperties>
</file>